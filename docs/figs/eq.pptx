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3"/>
  </p:notesMasterIdLst>
  <p:sldIdLst>
    <p:sldId id="266" r:id="rId2"/>
  </p:sldIdLst>
  <p:sldSz cx="8999538" cy="2879725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000"/>
    <a:srgbClr val="5B9BD5"/>
    <a:srgbClr val="BDD7EE"/>
    <a:srgbClr val="9DC3E6"/>
    <a:srgbClr val="E2AC00"/>
    <a:srgbClr val="FEFEFE"/>
    <a:srgbClr val="9390C5"/>
    <a:srgbClr val="F06DA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14" autoAdjust="0"/>
  </p:normalViewPr>
  <p:slideViewPr>
    <p:cSldViewPr snapToGrid="0">
      <p:cViewPr varScale="1">
        <p:scale>
          <a:sx n="147" d="100"/>
          <a:sy n="147" d="100"/>
        </p:scale>
        <p:origin x="104" y="9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D39C1AE3-E0D3-419F-B410-9FEFA2C17F52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847850" y="1279525"/>
            <a:ext cx="10795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F7EAF13-06B7-4474-86E9-EFBE586B02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12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1pPr>
    <a:lvl2pPr marL="373487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2pPr>
    <a:lvl3pPr marL="746973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3pPr>
    <a:lvl4pPr marL="1120460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4pPr>
    <a:lvl5pPr marL="1493947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5pPr>
    <a:lvl6pPr marL="1867433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6pPr>
    <a:lvl7pPr marL="2240920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7pPr>
    <a:lvl8pPr marL="2614407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8pPr>
    <a:lvl9pPr marL="2987893" algn="l" defTabSz="746973" rtl="0" eaLnBrk="1" latinLnBrk="0" hangingPunct="1">
      <a:defRPr sz="9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847850" y="1279525"/>
            <a:ext cx="1079500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7EAF13-06B7-4474-86E9-EFBE586B029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54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471289"/>
            <a:ext cx="6749654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512522"/>
            <a:ext cx="6749654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35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05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717932"/>
            <a:ext cx="7762102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1927150"/>
            <a:ext cx="7762102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33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766593"/>
            <a:ext cx="3824804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766593"/>
            <a:ext cx="3824804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991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53319"/>
            <a:ext cx="7762102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705933"/>
            <a:ext cx="380722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051899"/>
            <a:ext cx="3807226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705933"/>
            <a:ext cx="382597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051899"/>
            <a:ext cx="3825976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11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82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9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191982"/>
            <a:ext cx="29025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414627"/>
            <a:ext cx="455601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863918"/>
            <a:ext cx="29025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191982"/>
            <a:ext cx="29025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414627"/>
            <a:ext cx="455601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863918"/>
            <a:ext cx="29025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31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74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53319"/>
            <a:ext cx="1940525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53319"/>
            <a:ext cx="5709082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35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53319"/>
            <a:ext cx="776210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766593"/>
            <a:ext cx="776210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2669079"/>
            <a:ext cx="202489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454BF-4A59-44AE-B66D-7E6B93D39995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2669079"/>
            <a:ext cx="303734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2669079"/>
            <a:ext cx="202489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46DBF-FFCB-4F84-B77C-E27F79A8AB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6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kstvak 138">
                <a:extLst>
                  <a:ext uri="{FF2B5EF4-FFF2-40B4-BE49-F238E27FC236}">
                    <a16:creationId xmlns:a16="http://schemas.microsoft.com/office/drawing/2014/main" id="{C95DC013-FC72-228C-AF92-A3F95C26D6F4}"/>
                  </a:ext>
                </a:extLst>
              </p:cNvPr>
              <p:cNvSpPr txBox="1"/>
              <p:nvPr/>
            </p:nvSpPr>
            <p:spPr>
              <a:xfrm>
                <a:off x="882348" y="543659"/>
                <a:ext cx="3928419" cy="12974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1−</m:t>
                      </m:r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nl-NL" sz="2000" dirty="0" err="1"/>
              </a:p>
            </p:txBody>
          </p:sp>
        </mc:Choice>
        <mc:Fallback>
          <p:sp>
            <p:nvSpPr>
              <p:cNvPr id="43" name="Tekstvak 138">
                <a:extLst>
                  <a:ext uri="{FF2B5EF4-FFF2-40B4-BE49-F238E27FC236}">
                    <a16:creationId xmlns:a16="http://schemas.microsoft.com/office/drawing/2014/main" id="{C95DC013-FC72-228C-AF92-A3F95C26D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348" y="543659"/>
                <a:ext cx="3928419" cy="12974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kstvak 140">
                <a:extLst>
                  <a:ext uri="{FF2B5EF4-FFF2-40B4-BE49-F238E27FC236}">
                    <a16:creationId xmlns:a16="http://schemas.microsoft.com/office/drawing/2014/main" id="{ACAAC0ED-6140-B144-BBE0-437517C5A119}"/>
                  </a:ext>
                </a:extLst>
              </p:cNvPr>
              <p:cNvSpPr txBox="1"/>
              <p:nvPr/>
            </p:nvSpPr>
            <p:spPr>
              <a:xfrm>
                <a:off x="7236784" y="1224397"/>
                <a:ext cx="1643480" cy="360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NL" sz="1600"/>
                        <m:t>≈</m:t>
                      </m:r>
                      <m:r>
                        <m:rPr>
                          <m:nor/>
                        </m:rPr>
                        <a:rPr lang="en-GB" sz="1600" b="0" i="0" smtClean="0"/>
                        <m:t> </m:t>
                      </m:r>
                      <m:r>
                        <m:rPr>
                          <m:nor/>
                        </m:rPr>
                        <a:rPr lang="en-NL" sz="1600"/>
                        <m:t>1.669</m:t>
                      </m:r>
                      <m:r>
                        <m:rPr>
                          <m:nor/>
                        </m:rPr>
                        <a:rPr lang="en-GB" sz="1600" b="0" i="0" smtClean="0"/>
                        <m:t> </m:t>
                      </m:r>
                      <m:r>
                        <m:rPr>
                          <m:nor/>
                        </m:rPr>
                        <a:rPr lang="en-NL" sz="1600"/>
                        <m:t>×</m:t>
                      </m:r>
                      <m:r>
                        <m:rPr>
                          <m:nor/>
                        </m:rPr>
                        <a:rPr lang="en-GB" sz="1600" b="0" i="0" smtClean="0"/>
                        <m:t> </m:t>
                      </m:r>
                      <m:r>
                        <m:rPr>
                          <m:nor/>
                        </m:rPr>
                        <a:rPr lang="en-NL" sz="1600"/>
                        <m:t>10</m:t>
                      </m:r>
                      <m:r>
                        <m:rPr>
                          <m:nor/>
                        </m:rPr>
                        <a:rPr lang="en-NL" sz="1600" baseline="30000"/>
                        <m:t>−146</m:t>
                      </m:r>
                    </m:oMath>
                  </m:oMathPara>
                </a14:m>
                <a:endParaRPr lang="nl-NL" sz="1600" baseline="30000" dirty="0" err="1"/>
              </a:p>
            </p:txBody>
          </p:sp>
        </mc:Choice>
        <mc:Fallback>
          <p:sp>
            <p:nvSpPr>
              <p:cNvPr id="44" name="Tekstvak 140">
                <a:extLst>
                  <a:ext uri="{FF2B5EF4-FFF2-40B4-BE49-F238E27FC236}">
                    <a16:creationId xmlns:a16="http://schemas.microsoft.com/office/drawing/2014/main" id="{ACAAC0ED-6140-B144-BBE0-437517C5A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784" y="1224397"/>
                <a:ext cx="1643480" cy="360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kstvak 2">
            <a:extLst>
              <a:ext uri="{FF2B5EF4-FFF2-40B4-BE49-F238E27FC236}">
                <a16:creationId xmlns:a16="http://schemas.microsoft.com/office/drawing/2014/main" id="{15064437-2A66-ED32-2D5F-1A0EA8E89EEC}"/>
              </a:ext>
            </a:extLst>
          </p:cNvPr>
          <p:cNvSpPr txBox="1"/>
          <p:nvPr/>
        </p:nvSpPr>
        <p:spPr>
          <a:xfrm>
            <a:off x="4529475" y="1981692"/>
            <a:ext cx="2622834" cy="573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i="1" dirty="0"/>
              <a:t>Total number of unique combinations that </a:t>
            </a:r>
          </a:p>
          <a:p>
            <a:pPr>
              <a:lnSpc>
                <a:spcPct val="150000"/>
              </a:lnSpc>
            </a:pPr>
            <a:r>
              <a:rPr lang="en-US" sz="1100" i="1" u="sng" dirty="0"/>
              <a:t>anything</a:t>
            </a:r>
            <a:r>
              <a:rPr lang="en-US" sz="1100" i="1" dirty="0"/>
              <a:t> could have </a:t>
            </a:r>
            <a:r>
              <a:rPr lang="en-US" sz="1100" i="1" u="sng" dirty="0"/>
              <a:t>Power Failure</a:t>
            </a:r>
            <a:endParaRPr lang="nl-NL" sz="1100" i="1" u="sng" dirty="0" err="1"/>
          </a:p>
        </p:txBody>
      </p:sp>
      <p:sp>
        <p:nvSpPr>
          <p:cNvPr id="46" name="Tekstvak 51">
            <a:extLst>
              <a:ext uri="{FF2B5EF4-FFF2-40B4-BE49-F238E27FC236}">
                <a16:creationId xmlns:a16="http://schemas.microsoft.com/office/drawing/2014/main" id="{92A1B574-FF1F-D5B5-5E91-60184805CE90}"/>
              </a:ext>
            </a:extLst>
          </p:cNvPr>
          <p:cNvSpPr txBox="1"/>
          <p:nvPr/>
        </p:nvSpPr>
        <p:spPr>
          <a:xfrm>
            <a:off x="250965" y="225393"/>
            <a:ext cx="2622833" cy="573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100" i="1" dirty="0"/>
              <a:t>Total number of unique combinations that </a:t>
            </a:r>
          </a:p>
          <a:p>
            <a:pPr algn="r">
              <a:lnSpc>
                <a:spcPct val="150000"/>
              </a:lnSpc>
            </a:pPr>
            <a:r>
              <a:rPr lang="en-US" sz="1100" i="1" u="sng" dirty="0"/>
              <a:t>Machine Failure</a:t>
            </a:r>
            <a:r>
              <a:rPr lang="en-US" sz="1100" i="1" dirty="0"/>
              <a:t> occurs with </a:t>
            </a:r>
            <a:r>
              <a:rPr lang="en-US" sz="1100" i="1" u="sng" dirty="0"/>
              <a:t>Power Failure</a:t>
            </a:r>
            <a:endParaRPr lang="nl-NL" sz="1100" i="1" u="sng" dirty="0" err="1"/>
          </a:p>
        </p:txBody>
      </p:sp>
      <p:sp>
        <p:nvSpPr>
          <p:cNvPr id="47" name="Tekstvak 52">
            <a:extLst>
              <a:ext uri="{FF2B5EF4-FFF2-40B4-BE49-F238E27FC236}">
                <a16:creationId xmlns:a16="http://schemas.microsoft.com/office/drawing/2014/main" id="{2E7309D9-0F6B-324A-5FCB-F822387A3478}"/>
              </a:ext>
            </a:extLst>
          </p:cNvPr>
          <p:cNvSpPr txBox="1"/>
          <p:nvPr/>
        </p:nvSpPr>
        <p:spPr>
          <a:xfrm>
            <a:off x="4342050" y="691526"/>
            <a:ext cx="1854995" cy="314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i="1" dirty="0"/>
              <a:t>The remaining combinations</a:t>
            </a:r>
            <a:endParaRPr lang="nl-NL" sz="1100" i="1" u="sng" dirty="0" err="1"/>
          </a:p>
        </p:txBody>
      </p:sp>
      <p:sp>
        <p:nvSpPr>
          <p:cNvPr id="49" name="Vrije vorm: vorm 3">
            <a:extLst>
              <a:ext uri="{FF2B5EF4-FFF2-40B4-BE49-F238E27FC236}">
                <a16:creationId xmlns:a16="http://schemas.microsoft.com/office/drawing/2014/main" id="{E814A33F-490F-A41D-44FF-DE45C5A51EF5}"/>
              </a:ext>
            </a:extLst>
          </p:cNvPr>
          <p:cNvSpPr/>
          <p:nvPr/>
        </p:nvSpPr>
        <p:spPr>
          <a:xfrm>
            <a:off x="3823028" y="1934039"/>
            <a:ext cx="606095" cy="235761"/>
          </a:xfrm>
          <a:custGeom>
            <a:avLst/>
            <a:gdLst>
              <a:gd name="connsiteX0" fmla="*/ 53202 w 606095"/>
              <a:gd name="connsiteY0" fmla="*/ 0 h 235761"/>
              <a:gd name="connsiteX1" fmla="*/ 53202 w 606095"/>
              <a:gd name="connsiteY1" fmla="*/ 207335 h 235761"/>
              <a:gd name="connsiteX2" fmla="*/ 606095 w 606095"/>
              <a:gd name="connsiteY2" fmla="*/ 228600 h 23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095" h="235761">
                <a:moveTo>
                  <a:pt x="53202" y="0"/>
                </a:moveTo>
                <a:cubicBezTo>
                  <a:pt x="7127" y="84617"/>
                  <a:pt x="-38947" y="169235"/>
                  <a:pt x="53202" y="207335"/>
                </a:cubicBezTo>
                <a:cubicBezTo>
                  <a:pt x="145351" y="245435"/>
                  <a:pt x="375723" y="237017"/>
                  <a:pt x="606095" y="228600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0" name="Vrije vorm: vorm 4">
            <a:extLst>
              <a:ext uri="{FF2B5EF4-FFF2-40B4-BE49-F238E27FC236}">
                <a16:creationId xmlns:a16="http://schemas.microsoft.com/office/drawing/2014/main" id="{0ED74B1B-F14B-94D0-B4D5-723272316F35}"/>
              </a:ext>
            </a:extLst>
          </p:cNvPr>
          <p:cNvSpPr/>
          <p:nvPr/>
        </p:nvSpPr>
        <p:spPr>
          <a:xfrm>
            <a:off x="2169704" y="838886"/>
            <a:ext cx="1408189" cy="255615"/>
          </a:xfrm>
          <a:custGeom>
            <a:avLst/>
            <a:gdLst>
              <a:gd name="connsiteX0" fmla="*/ 1398182 w 1408189"/>
              <a:gd name="connsiteY0" fmla="*/ 170121 h 255615"/>
              <a:gd name="connsiteX1" fmla="*/ 1244010 w 1408189"/>
              <a:gd name="connsiteY1" fmla="*/ 63795 h 255615"/>
              <a:gd name="connsiteX2" fmla="*/ 265814 w 1408189"/>
              <a:gd name="connsiteY2" fmla="*/ 255181 h 255615"/>
              <a:gd name="connsiteX3" fmla="*/ 0 w 1408189"/>
              <a:gd name="connsiteY3" fmla="*/ 0 h 255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8189" h="255615">
                <a:moveTo>
                  <a:pt x="1398182" y="170121"/>
                </a:moveTo>
                <a:cubicBezTo>
                  <a:pt x="1415460" y="109869"/>
                  <a:pt x="1432738" y="49618"/>
                  <a:pt x="1244010" y="63795"/>
                </a:cubicBezTo>
                <a:cubicBezTo>
                  <a:pt x="1055282" y="77972"/>
                  <a:pt x="473149" y="265814"/>
                  <a:pt x="265814" y="255181"/>
                </a:cubicBezTo>
                <a:cubicBezTo>
                  <a:pt x="58479" y="244549"/>
                  <a:pt x="29239" y="122274"/>
                  <a:pt x="0" y="0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Vrije vorm: vorm 5">
            <a:extLst>
              <a:ext uri="{FF2B5EF4-FFF2-40B4-BE49-F238E27FC236}">
                <a16:creationId xmlns:a16="http://schemas.microsoft.com/office/drawing/2014/main" id="{08A8768F-0C55-6A48-73ED-25624A3A935F}"/>
              </a:ext>
            </a:extLst>
          </p:cNvPr>
          <p:cNvSpPr/>
          <p:nvPr/>
        </p:nvSpPr>
        <p:spPr>
          <a:xfrm>
            <a:off x="4056983" y="376167"/>
            <a:ext cx="983512" cy="531830"/>
          </a:xfrm>
          <a:custGeom>
            <a:avLst/>
            <a:gdLst>
              <a:gd name="connsiteX0" fmla="*/ 0 w 983512"/>
              <a:gd name="connsiteY0" fmla="*/ 531830 h 531830"/>
              <a:gd name="connsiteX1" fmla="*/ 324293 w 983512"/>
              <a:gd name="connsiteY1" fmla="*/ 165007 h 531830"/>
              <a:gd name="connsiteX2" fmla="*/ 653903 w 983512"/>
              <a:gd name="connsiteY2" fmla="*/ 308547 h 531830"/>
              <a:gd name="connsiteX3" fmla="*/ 372140 w 983512"/>
              <a:gd name="connsiteY3" fmla="*/ 393607 h 531830"/>
              <a:gd name="connsiteX4" fmla="*/ 611373 w 983512"/>
              <a:gd name="connsiteY4" fmla="*/ 203 h 531830"/>
              <a:gd name="connsiteX5" fmla="*/ 983512 w 983512"/>
              <a:gd name="connsiteY5" fmla="*/ 351077 h 531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3512" h="531830">
                <a:moveTo>
                  <a:pt x="0" y="531830"/>
                </a:moveTo>
                <a:cubicBezTo>
                  <a:pt x="107654" y="367025"/>
                  <a:pt x="215309" y="202221"/>
                  <a:pt x="324293" y="165007"/>
                </a:cubicBezTo>
                <a:cubicBezTo>
                  <a:pt x="433277" y="127793"/>
                  <a:pt x="645929" y="270447"/>
                  <a:pt x="653903" y="308547"/>
                </a:cubicBezTo>
                <a:cubicBezTo>
                  <a:pt x="661877" y="346647"/>
                  <a:pt x="379228" y="444998"/>
                  <a:pt x="372140" y="393607"/>
                </a:cubicBezTo>
                <a:cubicBezTo>
                  <a:pt x="365052" y="342216"/>
                  <a:pt x="509478" y="7291"/>
                  <a:pt x="611373" y="203"/>
                </a:cubicBezTo>
                <a:cubicBezTo>
                  <a:pt x="713268" y="-6885"/>
                  <a:pt x="848390" y="172096"/>
                  <a:pt x="983512" y="351077"/>
                </a:cubicBezTo>
              </a:path>
            </a:pathLst>
          </a:custGeom>
          <a:ln>
            <a:prstDash val="dash"/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kstvak 57">
                <a:extLst>
                  <a:ext uri="{FF2B5EF4-FFF2-40B4-BE49-F238E27FC236}">
                    <a16:creationId xmlns:a16="http://schemas.microsoft.com/office/drawing/2014/main" id="{91853BB1-6C79-4AF3-8C1E-0DDDE838B513}"/>
                  </a:ext>
                </a:extLst>
              </p:cNvPr>
              <p:cNvSpPr txBox="1"/>
              <p:nvPr/>
            </p:nvSpPr>
            <p:spPr>
              <a:xfrm>
                <a:off x="4643859" y="799333"/>
                <a:ext cx="2896688" cy="9728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1−</m:t>
                    </m:r>
                    <m:nary>
                      <m:naryPr>
                        <m:chr m:val="∑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94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339</m:t>
                                    </m:r>
                                  </m:num>
                                  <m:den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e>
                            </m:d>
                            <m:d>
                              <m:d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9961</m:t>
                                    </m:r>
                                  </m:num>
                                  <m:den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95−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num>
                                  <m:den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95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nl-NL" sz="2400" dirty="0" err="1"/>
              </a:p>
            </p:txBody>
          </p:sp>
        </mc:Choice>
        <mc:Fallback>
          <p:sp>
            <p:nvSpPr>
              <p:cNvPr id="52" name="Tekstvak 57">
                <a:extLst>
                  <a:ext uri="{FF2B5EF4-FFF2-40B4-BE49-F238E27FC236}">
                    <a16:creationId xmlns:a16="http://schemas.microsoft.com/office/drawing/2014/main" id="{91853BB1-6C79-4AF3-8C1E-0DDDE838B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859" y="799333"/>
                <a:ext cx="2896688" cy="972830"/>
              </a:xfrm>
              <a:prstGeom prst="rect">
                <a:avLst/>
              </a:prstGeom>
              <a:blipFill>
                <a:blip r:embed="rId5"/>
                <a:stretch>
                  <a:fillRect l="-4211" b="-187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1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9" grpId="0" animBg="1"/>
      <p:bldP spid="50" grpId="0" animBg="1"/>
      <p:bldP spid="51" grpId="0" animBg="1"/>
      <p:bldP spid="5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10636</TotalTime>
  <Words>44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>University of Technology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Erdogan Taskesen</dc:creator>
  <cp:lastModifiedBy>E T</cp:lastModifiedBy>
  <cp:revision>568</cp:revision>
  <dcterms:created xsi:type="dcterms:W3CDTF">2015-01-18T12:54:18Z</dcterms:created>
  <dcterms:modified xsi:type="dcterms:W3CDTF">2025-09-22T20:07:45Z</dcterms:modified>
</cp:coreProperties>
</file>